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82296" cy="6858000"/>
          </a:xfrm>
          <a:prstGeom prst="rect">
            <a:avLst/>
          </a:prstGeom>
          <a:solidFill>
            <a:srgbClr val="C31F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1828800"/>
            <a:ext cx="11055096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C31F2E"/>
                </a:solidFill>
              </a:rPr>
              <a:t>ALIBABA CLOUD AI HACKATHON PAKISTAN 2026 · HEALTHCARE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566928" y="2148840"/>
            <a:ext cx="11055096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5800" b="1" dirty="0">
                <a:solidFill>
                  <a:srgbClr val="1B1B1D"/>
                </a:solidFill>
              </a:rPr>
              <a:t>Blood</a:t>
            </a:r>
            <a:pPr indent="0" marL="0">
              <a:buNone/>
            </a:pPr>
            <a:r>
              <a:rPr lang="en-US" sz="5800" b="1" dirty="0">
                <a:solidFill>
                  <a:srgbClr val="C31F2E"/>
                </a:solidFill>
              </a:rPr>
              <a:t>Bridge</a:t>
            </a:r>
            <a:pPr indent="0" marL="0">
              <a:buNone/>
            </a:pPr>
            <a:r>
              <a:rPr lang="en-US" sz="5800" b="1" dirty="0">
                <a:solidFill>
                  <a:srgbClr val="1B1B1D"/>
                </a:solidFill>
              </a:rPr>
              <a:t> AI</a:t>
            </a:r>
            <a:endParaRPr lang="en-US" sz="5800" dirty="0"/>
          </a:p>
        </p:txBody>
      </p:sp>
      <p:sp>
        <p:nvSpPr>
          <p:cNvPr id="5" name="Text 3"/>
          <p:cNvSpPr/>
          <p:nvPr/>
        </p:nvSpPr>
        <p:spPr>
          <a:xfrm>
            <a:off x="566928" y="3246120"/>
            <a:ext cx="11055096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600"/>
              </a:lnSpc>
              <a:buNone/>
            </a:pPr>
            <a:r>
              <a:rPr lang="en-US" sz="1900" dirty="0">
                <a:solidFill>
                  <a:srgbClr val="5B5B58"/>
                </a:solidFill>
              </a:rPr>
              <a:t>Emergency blood coordination for Pakistan —</a:t>
            </a:r>
            <a:endParaRPr lang="en-US" sz="1900" dirty="0"/>
          </a:p>
          <a:p>
            <a:pPr indent="0" marL="0">
              <a:lnSpc>
                <a:spcPts val="2600"/>
              </a:lnSpc>
              <a:buNone/>
            </a:pPr>
            <a:r>
              <a:rPr lang="en-US" sz="1900" dirty="0">
                <a:solidFill>
                  <a:srgbClr val="5B5B58"/>
                </a:solidFill>
              </a:rPr>
              <a:t>every drop, matched in seconds. Safely.</a:t>
            </a:r>
            <a:endParaRPr lang="en-US" sz="1900" dirty="0"/>
          </a:p>
        </p:txBody>
      </p:sp>
      <p:sp>
        <p:nvSpPr>
          <p:cNvPr id="6" name="Shape 4"/>
          <p:cNvSpPr/>
          <p:nvPr/>
        </p:nvSpPr>
        <p:spPr>
          <a:xfrm>
            <a:off x="566928" y="4343400"/>
            <a:ext cx="2331720" cy="384048"/>
          </a:xfrm>
          <a:prstGeom prst="roundRect">
            <a:avLst>
              <a:gd name="adj" fmla="val 50000"/>
            </a:avLst>
          </a:prstGeom>
          <a:solidFill>
            <a:srgbClr val="FDECEE"/>
          </a:solidFill>
          <a:ln/>
        </p:spPr>
      </p:sp>
      <p:sp>
        <p:nvSpPr>
          <p:cNvPr id="7" name="Text 5"/>
          <p:cNvSpPr/>
          <p:nvPr/>
        </p:nvSpPr>
        <p:spPr>
          <a:xfrm>
            <a:off x="566928" y="4343400"/>
            <a:ext cx="23317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8F1620"/>
                </a:solidFill>
              </a:rPr>
              <a:t>Safety-first donor matching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3063240" y="4343400"/>
            <a:ext cx="2788920" cy="384048"/>
          </a:xfrm>
          <a:prstGeom prst="roundRect">
            <a:avLst>
              <a:gd name="adj" fmla="val 50000"/>
            </a:avLst>
          </a:prstGeom>
          <a:solidFill>
            <a:srgbClr val="E6F5F3"/>
          </a:solidFill>
          <a:ln/>
        </p:spPr>
      </p:sp>
      <p:sp>
        <p:nvSpPr>
          <p:cNvPr id="9" name="Text 7"/>
          <p:cNvSpPr/>
          <p:nvPr/>
        </p:nvSpPr>
        <p:spPr>
          <a:xfrm>
            <a:off x="3063240" y="4343400"/>
            <a:ext cx="27889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F766E"/>
                </a:solidFill>
              </a:rPr>
              <a:t>Self-verifying demand forecasts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6016752" y="4343400"/>
            <a:ext cx="1965960" cy="384048"/>
          </a:xfrm>
          <a:prstGeom prst="roundRect">
            <a:avLst>
              <a:gd name="adj" fmla="val 50000"/>
            </a:avLst>
          </a:prstGeom>
          <a:solidFill>
            <a:srgbClr val="FBF0DD"/>
          </a:solidFill>
          <a:ln/>
        </p:spPr>
      </p:sp>
      <p:sp>
        <p:nvSpPr>
          <p:cNvPr id="11" name="Text 9"/>
          <p:cNvSpPr/>
          <p:nvPr/>
        </p:nvSpPr>
        <p:spPr>
          <a:xfrm>
            <a:off x="6016752" y="4343400"/>
            <a:ext cx="19659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B4740E"/>
                </a:solidFill>
              </a:rPr>
              <a:t>Privacy by default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566928" y="6172200"/>
            <a:ext cx="11055096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B87"/>
                </a:solidFill>
              </a:rPr>
              <a:t>Team BloodBridge — working product, seeded with 6 cities across Pakistan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82296" cy="6858000"/>
          </a:xfrm>
          <a:prstGeom prst="rect">
            <a:avLst/>
          </a:prstGeom>
          <a:solidFill>
            <a:srgbClr val="C31F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11055096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C31F2E"/>
                </a:solidFill>
              </a:rPr>
              <a:t>THE PROBLEM · WHO IT AFFECTS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66928" y="749808"/>
            <a:ext cx="11055096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3000"/>
              </a:lnSpc>
              <a:buNone/>
            </a:pPr>
            <a:r>
              <a:rPr lang="en-US" sz="2600" b="1" dirty="0">
                <a:solidFill>
                  <a:srgbClr val="1B1B1D"/>
                </a:solidFill>
              </a:rPr>
              <a:t>Finding blood in an emergency means </a:t>
            </a:r>
            <a:pPr indent="0" marL="0">
              <a:lnSpc>
                <a:spcPts val="3000"/>
              </a:lnSpc>
              <a:buNone/>
            </a:pPr>
            <a:r>
              <a:rPr lang="en-US" sz="2600" b="1" dirty="0">
                <a:solidFill>
                  <a:srgbClr val="C31F2E"/>
                </a:solidFill>
              </a:rPr>
              <a:t>hours of desperate phone calls.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566928" y="1691640"/>
            <a:ext cx="6492240" cy="1572768"/>
          </a:xfrm>
          <a:prstGeom prst="roundRect">
            <a:avLst>
              <a:gd name="adj" fmla="val 5814"/>
            </a:avLst>
          </a:prstGeom>
          <a:solidFill>
            <a:srgbClr val="FAFAF8"/>
          </a:solidFill>
          <a:ln w="15875">
            <a:solidFill>
              <a:srgbClr val="E7E5E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86384" y="1874520"/>
            <a:ext cx="384048" cy="384048"/>
          </a:xfrm>
          <a:prstGeom prst="roundRect">
            <a:avLst>
              <a:gd name="adj" fmla="val 16667"/>
            </a:avLst>
          </a:prstGeom>
          <a:solidFill>
            <a:srgbClr val="C31F2E"/>
          </a:solidFill>
          <a:ln/>
        </p:spPr>
      </p:sp>
      <p:sp>
        <p:nvSpPr>
          <p:cNvPr id="7" name="Text 5"/>
          <p:cNvSpPr/>
          <p:nvPr/>
        </p:nvSpPr>
        <p:spPr>
          <a:xfrm>
            <a:off x="786384" y="1874520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1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1316736" y="1837944"/>
            <a:ext cx="55321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1B1D"/>
                </a:solidFill>
              </a:rPr>
              <a:t>Matching is slow and manual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1316736" y="2167128"/>
            <a:ext cx="5532120" cy="95097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5B5B58"/>
                </a:solidFill>
              </a:rPr>
              <a:t>Families call relatives, post on Facebook, and drive from bank to bank — while the patient’s clock runs out. There is no single place where a verified need meets willing, eligible donors.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566928" y="3465576"/>
            <a:ext cx="6492240" cy="1572768"/>
          </a:xfrm>
          <a:prstGeom prst="roundRect">
            <a:avLst>
              <a:gd name="adj" fmla="val 5814"/>
            </a:avLst>
          </a:prstGeom>
          <a:solidFill>
            <a:srgbClr val="FAFAF8"/>
          </a:solidFill>
          <a:ln w="15875">
            <a:solidFill>
              <a:srgbClr val="E7E5E0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786384" y="3648456"/>
            <a:ext cx="384048" cy="384048"/>
          </a:xfrm>
          <a:prstGeom prst="roundRect">
            <a:avLst>
              <a:gd name="adj" fmla="val 16667"/>
            </a:avLst>
          </a:prstGeom>
          <a:solidFill>
            <a:srgbClr val="C31F2E"/>
          </a:solidFill>
          <a:ln/>
        </p:spPr>
      </p:sp>
      <p:sp>
        <p:nvSpPr>
          <p:cNvPr id="12" name="Text 10"/>
          <p:cNvSpPr/>
          <p:nvPr/>
        </p:nvSpPr>
        <p:spPr>
          <a:xfrm>
            <a:off x="786384" y="3648456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2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1316736" y="3611880"/>
            <a:ext cx="55321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1B1D"/>
                </a:solidFill>
              </a:rPr>
              <a:t>Safety rules get ignored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1316736" y="3941064"/>
            <a:ext cx="5532120" cy="95097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5B5B58"/>
                </a:solidFill>
              </a:rPr>
              <a:t>Donors are contacted even when they are medically ineligible to donate again. Pakistan’s guideline requires a 90-day rest for men and 120 for women — informal networks don’t check.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566928" y="5239512"/>
            <a:ext cx="6492240" cy="1572768"/>
          </a:xfrm>
          <a:prstGeom prst="roundRect">
            <a:avLst>
              <a:gd name="adj" fmla="val 5814"/>
            </a:avLst>
          </a:prstGeom>
          <a:solidFill>
            <a:srgbClr val="FAFAF8"/>
          </a:solidFill>
          <a:ln w="15875">
            <a:solidFill>
              <a:srgbClr val="E7E5E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86384" y="5422392"/>
            <a:ext cx="384048" cy="384048"/>
          </a:xfrm>
          <a:prstGeom prst="roundRect">
            <a:avLst>
              <a:gd name="adj" fmla="val 16667"/>
            </a:avLst>
          </a:prstGeom>
          <a:solidFill>
            <a:srgbClr val="C31F2E"/>
          </a:solidFill>
          <a:ln/>
        </p:spPr>
      </p:sp>
      <p:sp>
        <p:nvSpPr>
          <p:cNvPr id="17" name="Text 15"/>
          <p:cNvSpPr/>
          <p:nvPr/>
        </p:nvSpPr>
        <p:spPr>
          <a:xfrm>
            <a:off x="786384" y="5422392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3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1316736" y="5385816"/>
            <a:ext cx="55321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1B1D"/>
                </a:solidFill>
              </a:rPr>
              <a:t>Blood banks can’t see demand coming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1316736" y="5715000"/>
            <a:ext cx="5532120" cy="95097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5B5B58"/>
                </a:solidFill>
              </a:rPr>
              <a:t>Inventory decisions are made on instinct. Rare groups run out without warning — while donor phone numbers circulate publicly and get misused.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7333488" y="1691640"/>
            <a:ext cx="4288536" cy="5120640"/>
          </a:xfrm>
          <a:prstGeom prst="roundRect">
            <a:avLst>
              <a:gd name="adj" fmla="val 2132"/>
            </a:avLst>
          </a:prstGeom>
          <a:solidFill>
            <a:srgbClr val="FDECEE"/>
          </a:solidFill>
          <a:ln w="15875">
            <a:solidFill>
              <a:srgbClr val="F0C7CB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552944" y="1819656"/>
            <a:ext cx="384962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8F1620"/>
                </a:solidFill>
              </a:rPr>
              <a:t>Who lives this problem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7552944" y="2167128"/>
            <a:ext cx="3849624" cy="4480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b="1" dirty="0">
                <a:solidFill>
                  <a:srgbClr val="1B1B1D"/>
                </a:solidFill>
              </a:rPr>
              <a:t>Patients &amp; families</a:t>
            </a:r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5B5B58"/>
                </a:solidFill>
              </a:rPr>
              <a:t> — emergencies, childbirth, surgery, accidents.
</a:t>
            </a:r>
            <a:pPr indent="0" marL="0">
              <a:lnSpc>
                <a:spcPts val="1400"/>
              </a:lnSpc>
              <a:buNone/>
            </a:pPr>
            <a:r>
              <a:rPr lang="en-US" sz="1050" b="1" dirty="0">
                <a:solidFill>
                  <a:srgbClr val="1B1B1D"/>
                </a:solidFill>
              </a:rPr>
              <a:t>Thalassemia &amp; dialysis patients</a:t>
            </a:r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5B5B58"/>
                </a:solidFill>
              </a:rPr>
              <a:t> — Pakistan carries one of the world’s largest thalassemia burdens; many need a transfusion every 2–4 weeks, for life.
</a:t>
            </a:r>
            <a:pPr indent="0" marL="0">
              <a:lnSpc>
                <a:spcPts val="1400"/>
              </a:lnSpc>
              <a:buNone/>
            </a:pPr>
            <a:r>
              <a:rPr lang="en-US" sz="1050" b="1" dirty="0">
                <a:solidFill>
                  <a:srgbClr val="1B1B1D"/>
                </a:solidFill>
              </a:rPr>
              <a:t>Hospitals &amp; blood banks</a:t>
            </a:r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5B5B58"/>
                </a:solidFill>
              </a:rPr>
              <a:t> — coordinating under time pressure with no forecasting.
</a:t>
            </a:r>
            <a:pPr indent="0" marL="0">
              <a:lnSpc>
                <a:spcPts val="1400"/>
              </a:lnSpc>
              <a:buNone/>
            </a:pPr>
            <a:r>
              <a:rPr lang="en-US" sz="1050" b="1" dirty="0">
                <a:solidFill>
                  <a:srgbClr val="1B1B1D"/>
                </a:solidFill>
              </a:rPr>
              <a:t>Voluntary donors</a:t>
            </a:r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5B5B58"/>
                </a:solidFill>
              </a:rPr>
              <a:t> — willing to help, but contacted chaotically and without eligibility checks.</a:t>
            </a:r>
            <a:endParaRPr lang="en-US" sz="10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82296" cy="6858000"/>
          </a:xfrm>
          <a:prstGeom prst="rect">
            <a:avLst/>
          </a:prstGeom>
          <a:solidFill>
            <a:srgbClr val="C31F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11055096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C31F2E"/>
                </a:solidFill>
              </a:rPr>
              <a:t>OUR SOLUTION · AND WHO IT SERVES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66928" y="749808"/>
            <a:ext cx="11055096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3000"/>
              </a:lnSpc>
              <a:buNone/>
            </a:pPr>
            <a:r>
              <a:rPr lang="en-US" sz="2600" b="1" dirty="0">
                <a:solidFill>
                  <a:srgbClr val="1B1B1D"/>
                </a:solidFill>
              </a:rPr>
              <a:t>One platform, three coordinated systems.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566928" y="1645920"/>
            <a:ext cx="5669280" cy="1389888"/>
          </a:xfrm>
          <a:prstGeom prst="roundRect">
            <a:avLst>
              <a:gd name="adj" fmla="val 6579"/>
            </a:avLst>
          </a:prstGeom>
          <a:solidFill>
            <a:srgbClr val="FAFAF8"/>
          </a:solidFill>
          <a:ln w="15875">
            <a:solidFill>
              <a:srgbClr val="E7E5E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86384" y="1810512"/>
            <a:ext cx="384048" cy="384048"/>
          </a:xfrm>
          <a:prstGeom prst="roundRect">
            <a:avLst>
              <a:gd name="adj" fmla="val 16667"/>
            </a:avLst>
          </a:prstGeom>
          <a:solidFill>
            <a:srgbClr val="C31F2E"/>
          </a:solidFill>
          <a:ln/>
        </p:spPr>
      </p:sp>
      <p:sp>
        <p:nvSpPr>
          <p:cNvPr id="7" name="Text 5"/>
          <p:cNvSpPr/>
          <p:nvPr/>
        </p:nvSpPr>
        <p:spPr>
          <a:xfrm>
            <a:off x="786384" y="1810512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1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1316736" y="1773936"/>
            <a:ext cx="47091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B1B1D"/>
                </a:solidFill>
              </a:rPr>
              <a:t>Safety-first donor matching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1316736" y="2103120"/>
            <a:ext cx="4709160" cy="80467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5B5B58"/>
                </a:solidFill>
              </a:rPr>
              <a:t>Ranks compatible donors by blood type, distance, donation recency and reliability — and hard-blocks anyone inside the mandatory resting window.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566928" y="3218688"/>
            <a:ext cx="5669280" cy="1389888"/>
          </a:xfrm>
          <a:prstGeom prst="roundRect">
            <a:avLst>
              <a:gd name="adj" fmla="val 6579"/>
            </a:avLst>
          </a:prstGeom>
          <a:solidFill>
            <a:srgbClr val="FAFAF8"/>
          </a:solidFill>
          <a:ln w="15875">
            <a:solidFill>
              <a:srgbClr val="E7E5E0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786384" y="3383280"/>
            <a:ext cx="384048" cy="384048"/>
          </a:xfrm>
          <a:prstGeom prst="roundRect">
            <a:avLst>
              <a:gd name="adj" fmla="val 16667"/>
            </a:avLst>
          </a:prstGeom>
          <a:solidFill>
            <a:srgbClr val="C31F2E"/>
          </a:solidFill>
          <a:ln/>
        </p:spPr>
      </p:sp>
      <p:sp>
        <p:nvSpPr>
          <p:cNvPr id="12" name="Text 10"/>
          <p:cNvSpPr/>
          <p:nvPr/>
        </p:nvSpPr>
        <p:spPr>
          <a:xfrm>
            <a:off x="786384" y="3383280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2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1316736" y="3346704"/>
            <a:ext cx="47091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B1B1D"/>
                </a:solidFill>
              </a:rPr>
              <a:t>Self-verifying demand forecasts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>
            <a:off x="1316736" y="3675888"/>
            <a:ext cx="4709160" cy="80467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5B5B58"/>
                </a:solidFill>
              </a:rPr>
              <a:t>7-day predictions per city &amp; blood group — with backtested accuracy displayed live in the product, so the numbers are proven, not claimed.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566928" y="4791456"/>
            <a:ext cx="5669280" cy="1389888"/>
          </a:xfrm>
          <a:prstGeom prst="roundRect">
            <a:avLst>
              <a:gd name="adj" fmla="val 6579"/>
            </a:avLst>
          </a:prstGeom>
          <a:solidFill>
            <a:srgbClr val="FAFAF8"/>
          </a:solidFill>
          <a:ln w="15875">
            <a:solidFill>
              <a:srgbClr val="E7E5E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86384" y="4956048"/>
            <a:ext cx="384048" cy="384048"/>
          </a:xfrm>
          <a:prstGeom prst="roundRect">
            <a:avLst>
              <a:gd name="adj" fmla="val 16667"/>
            </a:avLst>
          </a:prstGeom>
          <a:solidFill>
            <a:srgbClr val="C31F2E"/>
          </a:solidFill>
          <a:ln/>
        </p:spPr>
      </p:sp>
      <p:sp>
        <p:nvSpPr>
          <p:cNvPr id="17" name="Text 15"/>
          <p:cNvSpPr/>
          <p:nvPr/>
        </p:nvSpPr>
        <p:spPr>
          <a:xfrm>
            <a:off x="786384" y="4956048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3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1316736" y="4919472"/>
            <a:ext cx="47091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B1B1D"/>
                </a:solidFill>
              </a:rPr>
              <a:t>Assistant chatbot</a:t>
            </a:r>
            <a:endParaRPr lang="en-US" sz="1350" dirty="0"/>
          </a:p>
        </p:txBody>
      </p:sp>
      <p:sp>
        <p:nvSpPr>
          <p:cNvPr id="19" name="Text 17"/>
          <p:cNvSpPr/>
          <p:nvPr/>
        </p:nvSpPr>
        <p:spPr>
          <a:xfrm>
            <a:off x="1316736" y="5248656"/>
            <a:ext cx="4709160" cy="80467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5B5B58"/>
                </a:solidFill>
              </a:rPr>
              <a:t>Instant answers on compatibility, eligibility rules, live inventory and how to submit a request.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566928" y="6437376"/>
            <a:ext cx="56692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b="1" dirty="0">
                <a:solidFill>
                  <a:srgbClr val="1B1B1D"/>
                </a:solidFill>
              </a:rPr>
              <a:t>Audience: </a:t>
            </a:r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5B5B58"/>
                </a:solidFill>
              </a:rPr>
              <a:t>hospital &amp; blood-bank staff post verified requests · voluntary donors register and respond · coordinators forecast and plan stock.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6473952" y="1728216"/>
            <a:ext cx="5202936" cy="3292983"/>
          </a:xfrm>
          <a:prstGeom prst="roundRect">
            <a:avLst>
              <a:gd name="adj" fmla="val 2221"/>
            </a:avLst>
          </a:prstGeom>
          <a:solidFill>
            <a:srgbClr val="FAFAF8"/>
          </a:solidFill>
          <a:ln w="15875">
            <a:solidFill>
              <a:srgbClr val="E7E5E0"/>
            </a:solidFill>
            <a:prstDash val="solid"/>
          </a:ln>
        </p:spPr>
      </p:sp>
      <p:pic>
        <p:nvPicPr>
          <p:cNvPr id="22" name="Image 0" descr="C:\Users\SANA KHAN\Documents\Qoder\2026-09-03\chat-1\bloodbridge-ai\assets\dashboar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28816" y="1783080"/>
            <a:ext cx="5093208" cy="3183255"/>
          </a:xfrm>
          <a:prstGeom prst="rect">
            <a:avLst/>
          </a:prstGeom>
        </p:spPr>
      </p:pic>
      <p:sp>
        <p:nvSpPr>
          <p:cNvPr id="23" name="Text 20"/>
          <p:cNvSpPr/>
          <p:nvPr/>
        </p:nvSpPr>
        <p:spPr>
          <a:xfrm>
            <a:off x="6473952" y="5076063"/>
            <a:ext cx="5202936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8B8B87"/>
                </a:solidFill>
              </a:rPr>
              <a:t>Live dashboard — inventory, donors by city, requests (patient names masked)</a:t>
            </a:r>
            <a:endParaRPr lang="en-US" sz="9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82296" cy="6858000"/>
          </a:xfrm>
          <a:prstGeom prst="rect">
            <a:avLst/>
          </a:prstGeom>
          <a:solidFill>
            <a:srgbClr val="C31F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11055096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C31F2E"/>
                </a:solidFill>
              </a:rPr>
              <a:t>THE NEED · THE IMPACT IT MAKES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66928" y="749808"/>
            <a:ext cx="11055096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3000"/>
              </a:lnSpc>
              <a:buNone/>
            </a:pPr>
            <a:r>
              <a:rPr lang="en-US" sz="2600" b="1" dirty="0">
                <a:solidFill>
                  <a:srgbClr val="1B1B1D"/>
                </a:solidFill>
              </a:rPr>
              <a:t>From a phone tree to a </a:t>
            </a:r>
            <a:pPr indent="0" marL="0">
              <a:lnSpc>
                <a:spcPts val="3000"/>
              </a:lnSpc>
              <a:buNone/>
            </a:pPr>
            <a:r>
              <a:rPr lang="en-US" sz="2600" b="1" dirty="0">
                <a:solidFill>
                  <a:srgbClr val="C31F2E"/>
                </a:solidFill>
              </a:rPr>
              <a:t>match in seconds</a:t>
            </a:r>
            <a:pPr indent="0" marL="0">
              <a:lnSpc>
                <a:spcPts val="3000"/>
              </a:lnSpc>
              <a:buNone/>
            </a:pPr>
            <a:r>
              <a:rPr lang="en-US" sz="2600" b="1" dirty="0">
                <a:solidFill>
                  <a:srgbClr val="1B1B1D"/>
                </a:solidFill>
              </a:rPr>
              <a:t> — with safety enforced by design.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566928" y="1783080"/>
            <a:ext cx="2612898" cy="2377440"/>
          </a:xfrm>
          <a:prstGeom prst="roundRect">
            <a:avLst>
              <a:gd name="adj" fmla="val 3846"/>
            </a:avLst>
          </a:prstGeom>
          <a:solidFill>
            <a:srgbClr val="FFFFFF"/>
          </a:solidFill>
          <a:ln w="15875">
            <a:solidFill>
              <a:srgbClr val="E7E5E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66928" y="2011680"/>
            <a:ext cx="2612898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C31F2E"/>
                </a:solidFill>
              </a:rPr>
              <a:t>10</a:t>
            </a:r>
            <a:endParaRPr lang="en-US" sz="3800" dirty="0"/>
          </a:p>
        </p:txBody>
      </p:sp>
      <p:sp>
        <p:nvSpPr>
          <p:cNvPr id="7" name="Text 5"/>
          <p:cNvSpPr/>
          <p:nvPr/>
        </p:nvSpPr>
        <p:spPr>
          <a:xfrm>
            <a:off x="731520" y="2834640"/>
            <a:ext cx="2283714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ts val="1350"/>
              </a:lnSpc>
              <a:buNone/>
            </a:pPr>
            <a:r>
              <a:rPr lang="en-US" sz="1000" dirty="0">
                <a:solidFill>
                  <a:srgbClr val="5B5B58"/>
                </a:solidFill>
              </a:rPr>
              <a:t>ranked, medically eligible donors surfaced instantly per request — ranked by compatibility, distance &amp; ETA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3380994" y="1783080"/>
            <a:ext cx="2612898" cy="2377440"/>
          </a:xfrm>
          <a:prstGeom prst="roundRect">
            <a:avLst>
              <a:gd name="adj" fmla="val 3846"/>
            </a:avLst>
          </a:prstGeom>
          <a:solidFill>
            <a:srgbClr val="FFFFFF"/>
          </a:solidFill>
          <a:ln w="15875">
            <a:solidFill>
              <a:srgbClr val="E7E5E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380994" y="2011680"/>
            <a:ext cx="2612898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C31F2E"/>
                </a:solidFill>
              </a:rPr>
              <a:t>17</a:t>
            </a:r>
            <a:endParaRPr lang="en-US" sz="3800" dirty="0"/>
          </a:p>
        </p:txBody>
      </p:sp>
      <p:sp>
        <p:nvSpPr>
          <p:cNvPr id="10" name="Text 8"/>
          <p:cNvSpPr/>
          <p:nvPr/>
        </p:nvSpPr>
        <p:spPr>
          <a:xfrm>
            <a:off x="3545586" y="2834640"/>
            <a:ext cx="2283714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ts val="1350"/>
              </a:lnSpc>
              <a:buNone/>
            </a:pPr>
            <a:r>
              <a:rPr lang="en-US" sz="1000" dirty="0">
                <a:solidFill>
                  <a:srgbClr val="5B5B58"/>
                </a:solidFill>
              </a:rPr>
              <a:t>donors automatically blocked in one live demo request for being inside the 90/120-day resting window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6195060" y="1783080"/>
            <a:ext cx="2612898" cy="2377440"/>
          </a:xfrm>
          <a:prstGeom prst="roundRect">
            <a:avLst>
              <a:gd name="adj" fmla="val 3846"/>
            </a:avLst>
          </a:prstGeom>
          <a:solidFill>
            <a:srgbClr val="FFFFFF"/>
          </a:solidFill>
          <a:ln w="15875">
            <a:solidFill>
              <a:srgbClr val="E7E5E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195060" y="2011680"/>
            <a:ext cx="2612898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C31F2E"/>
                </a:solidFill>
              </a:rPr>
              <a:t>7 days</a:t>
            </a:r>
            <a:endParaRPr lang="en-US" sz="3800" dirty="0"/>
          </a:p>
        </p:txBody>
      </p:sp>
      <p:sp>
        <p:nvSpPr>
          <p:cNvPr id="13" name="Text 11"/>
          <p:cNvSpPr/>
          <p:nvPr/>
        </p:nvSpPr>
        <p:spPr>
          <a:xfrm>
            <a:off x="6359652" y="2834640"/>
            <a:ext cx="2283714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ts val="1350"/>
              </a:lnSpc>
              <a:buNone/>
            </a:pPr>
            <a:r>
              <a:rPr lang="en-US" sz="1000" dirty="0">
                <a:solidFill>
                  <a:srgbClr val="5B5B58"/>
                </a:solidFill>
              </a:rPr>
              <a:t>of demand forecast per city &amp; blood group, with shortage warnings before banks run dry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9009126" y="1783080"/>
            <a:ext cx="2612898" cy="2377440"/>
          </a:xfrm>
          <a:prstGeom prst="roundRect">
            <a:avLst>
              <a:gd name="adj" fmla="val 3846"/>
            </a:avLst>
          </a:prstGeom>
          <a:solidFill>
            <a:srgbClr val="FFFFFF"/>
          </a:solidFill>
          <a:ln w="15875">
            <a:solidFill>
              <a:srgbClr val="E7E5E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9009126" y="2011680"/>
            <a:ext cx="2612898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C31F2E"/>
                </a:solidFill>
              </a:rPr>
              <a:t>0</a:t>
            </a:r>
            <a:endParaRPr lang="en-US" sz="3800" dirty="0"/>
          </a:p>
        </p:txBody>
      </p:sp>
      <p:sp>
        <p:nvSpPr>
          <p:cNvPr id="16" name="Text 14"/>
          <p:cNvSpPr/>
          <p:nvPr/>
        </p:nvSpPr>
        <p:spPr>
          <a:xfrm>
            <a:off x="9173718" y="2834640"/>
            <a:ext cx="2283714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ts val="1350"/>
              </a:lnSpc>
              <a:buNone/>
            </a:pPr>
            <a:r>
              <a:rPr lang="en-US" sz="1000" dirty="0">
                <a:solidFill>
                  <a:srgbClr val="5B5B58"/>
                </a:solidFill>
              </a:rPr>
              <a:t>patient names or donor phone numbers exposed in public views — masked by default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566928" y="4434840"/>
            <a:ext cx="11055096" cy="1600200"/>
          </a:xfrm>
          <a:prstGeom prst="roundRect">
            <a:avLst>
              <a:gd name="adj" fmla="val 5714"/>
            </a:avLst>
          </a:prstGeom>
          <a:solidFill>
            <a:srgbClr val="E6F5F3"/>
          </a:solidFill>
          <a:ln w="15875">
            <a:solidFill>
              <a:srgbClr val="BFE3D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22960" y="4562856"/>
            <a:ext cx="10543032" cy="1325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300" b="1" dirty="0">
                <a:solidFill>
                  <a:srgbClr val="0B4A44"/>
                </a:solidFill>
              </a:rPr>
              <a:t>Why it matters: </a:t>
            </a:r>
            <a:pPr indent="0" marL="0">
              <a:lnSpc>
                <a:spcPts val="1800"/>
              </a:lnSpc>
              <a:buNone/>
            </a:pPr>
            <a:r>
              <a:rPr lang="en-US" sz="1300" dirty="0">
                <a:solidFill>
                  <a:srgbClr val="0B4A44"/>
                </a:solidFill>
              </a:rPr>
              <a:t>every emergency that starts with a match instead of a phone tree saves the most expensive currency in medicine — time. And every blocked ineligible donor is a complication that never happens. The system also gets </a:t>
            </a:r>
            <a:pPr indent="0" marL="0">
              <a:lnSpc>
                <a:spcPts val="1800"/>
              </a:lnSpc>
              <a:buNone/>
            </a:pPr>
            <a:r>
              <a:rPr lang="en-US" sz="1300" b="1" dirty="0">
                <a:solidFill>
                  <a:srgbClr val="0B4A44"/>
                </a:solidFill>
              </a:rPr>
              <a:t>smarter with use</a:t>
            </a:r>
            <a:pPr indent="0" marL="0">
              <a:lnSpc>
                <a:spcPts val="1800"/>
              </a:lnSpc>
              <a:buNone/>
            </a:pPr>
            <a:r>
              <a:rPr lang="en-US" sz="1300" dirty="0">
                <a:solidFill>
                  <a:srgbClr val="0B4A44"/>
                </a:solidFill>
              </a:rPr>
              <a:t>: real requests and fulfillments feed the forecast model.</a:t>
            </a:r>
            <a:endParaRPr lang="en-US" sz="13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82296" cy="6858000"/>
          </a:xfrm>
          <a:prstGeom prst="rect">
            <a:avLst/>
          </a:prstGeom>
          <a:solidFill>
            <a:srgbClr val="C31F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11055096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C31F2E"/>
                </a:solidFill>
              </a:rPr>
              <a:t>INNOVATION 1 · SAFETY-FIRST MATCHING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66928" y="749808"/>
            <a:ext cx="11055096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3000"/>
              </a:lnSpc>
              <a:buNone/>
            </a:pPr>
            <a:r>
              <a:rPr lang="en-US" sz="2600" b="1" dirty="0">
                <a:solidFill>
                  <a:srgbClr val="1B1B1D"/>
                </a:solidFill>
              </a:rPr>
              <a:t>Matching that </a:t>
            </a:r>
            <a:pPr indent="0" marL="0">
              <a:lnSpc>
                <a:spcPts val="3000"/>
              </a:lnSpc>
              <a:buNone/>
            </a:pPr>
            <a:r>
              <a:rPr lang="en-US" sz="2600" b="1" dirty="0">
                <a:solidFill>
                  <a:srgbClr val="C31F2E"/>
                </a:solidFill>
              </a:rPr>
              <a:t>refuses</a:t>
            </a:r>
            <a:pPr indent="0" marL="0">
              <a:lnSpc>
                <a:spcPts val="3000"/>
              </a:lnSpc>
              <a:buNone/>
            </a:pPr>
            <a:r>
              <a:rPr lang="en-US" sz="2600" b="1" dirty="0">
                <a:solidFill>
                  <a:srgbClr val="1B1B1D"/>
                </a:solidFill>
              </a:rPr>
              <a:t> to recommend ineligible donors.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512064" y="1636776"/>
            <a:ext cx="6647688" cy="4195953"/>
          </a:xfrm>
          <a:prstGeom prst="roundRect">
            <a:avLst>
              <a:gd name="adj" fmla="val 1743"/>
            </a:avLst>
          </a:prstGeom>
          <a:solidFill>
            <a:srgbClr val="FAFAF8"/>
          </a:solidFill>
          <a:ln w="15875">
            <a:solidFill>
              <a:srgbClr val="E7E5E0"/>
            </a:solidFill>
            <a:prstDash val="solid"/>
          </a:ln>
        </p:spPr>
      </p:sp>
      <p:pic>
        <p:nvPicPr>
          <p:cNvPr id="6" name="Image 0" descr="C:\Users\SANA KHAN\Documents\Qoder\2026-09-03\chat-1\bloodbridge-ai\assets\donor-match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691640"/>
            <a:ext cx="6537960" cy="4086225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512064" y="5887593"/>
            <a:ext cx="664768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8B8B87"/>
                </a:solidFill>
              </a:rPr>
              <a:t>AI match results — ranked donors + live count of blocked ineligible donors</a:t>
            </a:r>
            <a:endParaRPr lang="en-US" sz="950" dirty="0"/>
          </a:p>
        </p:txBody>
      </p:sp>
      <p:sp>
        <p:nvSpPr>
          <p:cNvPr id="8" name="Shape 5"/>
          <p:cNvSpPr/>
          <p:nvPr/>
        </p:nvSpPr>
        <p:spPr>
          <a:xfrm>
            <a:off x="7424928" y="1691640"/>
            <a:ext cx="4197096" cy="1481328"/>
          </a:xfrm>
          <a:prstGeom prst="roundRect">
            <a:avLst>
              <a:gd name="adj" fmla="val 6173"/>
            </a:avLst>
          </a:prstGeom>
          <a:solidFill>
            <a:srgbClr val="FAFAF8"/>
          </a:solidFill>
          <a:ln w="15875">
            <a:solidFill>
              <a:srgbClr val="E7E5E0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7644384" y="1819656"/>
            <a:ext cx="375818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1B1D"/>
                </a:solidFill>
              </a:rPr>
              <a:t>Weighted compatibility score</a:t>
            </a:r>
            <a:endParaRPr lang="en-US" sz="1400" dirty="0"/>
          </a:p>
        </p:txBody>
      </p:sp>
      <p:sp>
        <p:nvSpPr>
          <p:cNvPr id="10" name="Text 7"/>
          <p:cNvSpPr/>
          <p:nvPr/>
        </p:nvSpPr>
        <p:spPr>
          <a:xfrm>
            <a:off x="7644384" y="2148840"/>
            <a:ext cx="3758184" cy="87782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B5B58"/>
                </a:solidFill>
              </a:rPr>
              <a:t>Blood-type compatibility (40%) · haversine distance (30%) · donation recency (20%) · donor rating (10%). Critical requests re-weight toward distance.</a:t>
            </a:r>
            <a:endParaRPr lang="en-US" sz="1100" dirty="0"/>
          </a:p>
        </p:txBody>
      </p:sp>
      <p:sp>
        <p:nvSpPr>
          <p:cNvPr id="11" name="Shape 8"/>
          <p:cNvSpPr/>
          <p:nvPr/>
        </p:nvSpPr>
        <p:spPr>
          <a:xfrm>
            <a:off x="7424928" y="3355848"/>
            <a:ext cx="4197096" cy="1481328"/>
          </a:xfrm>
          <a:prstGeom prst="roundRect">
            <a:avLst>
              <a:gd name="adj" fmla="val 6173"/>
            </a:avLst>
          </a:prstGeom>
          <a:solidFill>
            <a:srgbClr val="FBF0DD"/>
          </a:solidFill>
          <a:ln w="15875">
            <a:solidFill>
              <a:srgbClr val="EBD6A8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7644384" y="3483864"/>
            <a:ext cx="375818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B4740E"/>
                </a:solidFill>
              </a:rPr>
              <a:t>The hard safety rule</a:t>
            </a:r>
            <a:endParaRPr lang="en-US" sz="1400" dirty="0"/>
          </a:p>
        </p:txBody>
      </p:sp>
      <p:sp>
        <p:nvSpPr>
          <p:cNvPr id="13" name="Text 10"/>
          <p:cNvSpPr/>
          <p:nvPr/>
        </p:nvSpPr>
        <p:spPr>
          <a:xfrm>
            <a:off x="7644384" y="3813048"/>
            <a:ext cx="3758184" cy="87782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7A5008"/>
                </a:solidFill>
              </a:rPr>
              <a:t>Donors inside the 90-day (men) / 120-day (women) resting window are excluded entirely — never just ranked lower. The count is shown live on every match.</a:t>
            </a:r>
            <a:endParaRPr lang="en-US" sz="1100" dirty="0"/>
          </a:p>
        </p:txBody>
      </p:sp>
      <p:sp>
        <p:nvSpPr>
          <p:cNvPr id="14" name="Shape 11"/>
          <p:cNvSpPr/>
          <p:nvPr/>
        </p:nvSpPr>
        <p:spPr>
          <a:xfrm>
            <a:off x="7424928" y="5020056"/>
            <a:ext cx="4197096" cy="1481328"/>
          </a:xfrm>
          <a:prstGeom prst="roundRect">
            <a:avLst>
              <a:gd name="adj" fmla="val 6173"/>
            </a:avLst>
          </a:prstGeom>
          <a:solidFill>
            <a:srgbClr val="FAFAF8"/>
          </a:solidFill>
          <a:ln w="15875">
            <a:solidFill>
              <a:srgbClr val="E7E5E0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7644384" y="5148072"/>
            <a:ext cx="375818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1B1D"/>
                </a:solidFill>
              </a:rPr>
              <a:t>Closing the loop</a:t>
            </a:r>
            <a:endParaRPr lang="en-US" sz="1400" dirty="0"/>
          </a:p>
        </p:txBody>
      </p:sp>
      <p:sp>
        <p:nvSpPr>
          <p:cNvPr id="16" name="Text 13"/>
          <p:cNvSpPr/>
          <p:nvPr/>
        </p:nvSpPr>
        <p:spPr>
          <a:xfrm>
            <a:off x="7644384" y="5477256"/>
            <a:ext cx="3758184" cy="87782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B5B58"/>
                </a:solidFill>
              </a:rPr>
              <a:t>When staff confirm which donors actually donated, those donors automatically enter their resting window — the system keeps itself medically honest.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82296" cy="6858000"/>
          </a:xfrm>
          <a:prstGeom prst="rect">
            <a:avLst/>
          </a:prstGeom>
          <a:solidFill>
            <a:srgbClr val="C31F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11055096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C31F2E"/>
                </a:solidFill>
              </a:rPr>
              <a:t>INNOVATION 2 · SELF-VERIFYING FORECASTS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66928" y="749808"/>
            <a:ext cx="11055096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3000"/>
              </a:lnSpc>
              <a:buNone/>
            </a:pPr>
            <a:r>
              <a:rPr lang="en-US" sz="2600" b="1" dirty="0">
                <a:solidFill>
                  <a:srgbClr val="1B1B1D"/>
                </a:solidFill>
              </a:rPr>
              <a:t>Predictions that </a:t>
            </a:r>
            <a:pPr indent="0" marL="0">
              <a:lnSpc>
                <a:spcPts val="3000"/>
              </a:lnSpc>
              <a:buNone/>
            </a:pPr>
            <a:r>
              <a:rPr lang="en-US" sz="2600" b="1" dirty="0">
                <a:solidFill>
                  <a:srgbClr val="C31F2E"/>
                </a:solidFill>
              </a:rPr>
              <a:t>prove their own accuracy.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512064" y="1636776"/>
            <a:ext cx="6647688" cy="4195953"/>
          </a:xfrm>
          <a:prstGeom prst="roundRect">
            <a:avLst>
              <a:gd name="adj" fmla="val 1743"/>
            </a:avLst>
          </a:prstGeom>
          <a:solidFill>
            <a:srgbClr val="FAFAF8"/>
          </a:solidFill>
          <a:ln w="15875">
            <a:solidFill>
              <a:srgbClr val="E7E5E0"/>
            </a:solidFill>
            <a:prstDash val="solid"/>
          </a:ln>
        </p:spPr>
      </p:sp>
      <p:pic>
        <p:nvPicPr>
          <p:cNvPr id="6" name="Image 0" descr="C:\Users\SANA KHAN\Documents\Qoder\2026-09-03\chat-1\bloodbridge-ai\assets\analytic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691640"/>
            <a:ext cx="6537960" cy="4086225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512064" y="5887593"/>
            <a:ext cx="664768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8B8B87"/>
                </a:solidFill>
              </a:rPr>
              <a:t>Analytics — 7-day forecast with live backtested accuracy card</a:t>
            </a:r>
            <a:endParaRPr lang="en-US" sz="950" dirty="0"/>
          </a:p>
        </p:txBody>
      </p:sp>
      <p:sp>
        <p:nvSpPr>
          <p:cNvPr id="8" name="Shape 5"/>
          <p:cNvSpPr/>
          <p:nvPr/>
        </p:nvSpPr>
        <p:spPr>
          <a:xfrm>
            <a:off x="7424928" y="1691640"/>
            <a:ext cx="4197096" cy="1481328"/>
          </a:xfrm>
          <a:prstGeom prst="roundRect">
            <a:avLst>
              <a:gd name="adj" fmla="val 6173"/>
            </a:avLst>
          </a:prstGeom>
          <a:solidFill>
            <a:srgbClr val="FAFAF8"/>
          </a:solidFill>
          <a:ln w="15875">
            <a:solidFill>
              <a:srgbClr val="E7E5E0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7644384" y="1819656"/>
            <a:ext cx="375818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1B1D"/>
                </a:solidFill>
              </a:rPr>
              <a:t>The model</a:t>
            </a:r>
            <a:endParaRPr lang="en-US" sz="1400" dirty="0"/>
          </a:p>
        </p:txBody>
      </p:sp>
      <p:sp>
        <p:nvSpPr>
          <p:cNvPr id="10" name="Text 7"/>
          <p:cNvSpPr/>
          <p:nvPr/>
        </p:nvSpPr>
        <p:spPr>
          <a:xfrm>
            <a:off x="7644384" y="2148840"/>
            <a:ext cx="3758184" cy="87782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B5B58"/>
                </a:solidFill>
              </a:rPr>
              <a:t>Weighted 14-day moving average + linear-regression trend + weekday seasonality, per city and blood group — explainable by design.</a:t>
            </a:r>
            <a:endParaRPr lang="en-US" sz="1100" dirty="0"/>
          </a:p>
        </p:txBody>
      </p:sp>
      <p:sp>
        <p:nvSpPr>
          <p:cNvPr id="11" name="Shape 8"/>
          <p:cNvSpPr/>
          <p:nvPr/>
        </p:nvSpPr>
        <p:spPr>
          <a:xfrm>
            <a:off x="7424928" y="3355848"/>
            <a:ext cx="4197096" cy="1481328"/>
          </a:xfrm>
          <a:prstGeom prst="roundRect">
            <a:avLst>
              <a:gd name="adj" fmla="val 6173"/>
            </a:avLst>
          </a:prstGeom>
          <a:solidFill>
            <a:srgbClr val="E6F5F3"/>
          </a:solidFill>
          <a:ln w="15875">
            <a:solidFill>
              <a:srgbClr val="BFE3DF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7644384" y="3483864"/>
            <a:ext cx="375818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766E"/>
                </a:solidFill>
              </a:rPr>
              <a:t>Backtested, not just claimed</a:t>
            </a:r>
            <a:endParaRPr lang="en-US" sz="1400" dirty="0"/>
          </a:p>
        </p:txBody>
      </p:sp>
      <p:sp>
        <p:nvSpPr>
          <p:cNvPr id="13" name="Text 10"/>
          <p:cNvSpPr/>
          <p:nvPr/>
        </p:nvSpPr>
        <p:spPr>
          <a:xfrm>
            <a:off x="7644384" y="3813048"/>
            <a:ext cx="3758184" cy="87782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0B4A44"/>
                </a:solidFill>
              </a:rPr>
              <a:t>The model is re-run on past days using only prior history, then compared with what actually happened — ~80–84% accuracy across 112 forecasts, displayed live in the product.</a:t>
            </a:r>
            <a:endParaRPr lang="en-US" sz="1100" dirty="0"/>
          </a:p>
        </p:txBody>
      </p:sp>
      <p:sp>
        <p:nvSpPr>
          <p:cNvPr id="14" name="Shape 11"/>
          <p:cNvSpPr/>
          <p:nvPr/>
        </p:nvSpPr>
        <p:spPr>
          <a:xfrm>
            <a:off x="7424928" y="5020056"/>
            <a:ext cx="4197096" cy="1481328"/>
          </a:xfrm>
          <a:prstGeom prst="roundRect">
            <a:avLst>
              <a:gd name="adj" fmla="val 6173"/>
            </a:avLst>
          </a:prstGeom>
          <a:solidFill>
            <a:srgbClr val="FAFAF8"/>
          </a:solidFill>
          <a:ln w="15875">
            <a:solidFill>
              <a:srgbClr val="E7E5E0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7644384" y="5148072"/>
            <a:ext cx="375818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1B1D"/>
                </a:solidFill>
              </a:rPr>
              <a:t>Learns from reality</a:t>
            </a:r>
            <a:endParaRPr lang="en-US" sz="1400" dirty="0"/>
          </a:p>
        </p:txBody>
      </p:sp>
      <p:sp>
        <p:nvSpPr>
          <p:cNvPr id="16" name="Text 13"/>
          <p:cNvSpPr/>
          <p:nvPr/>
        </p:nvSpPr>
        <p:spPr>
          <a:xfrm>
            <a:off x="7644384" y="5477256"/>
            <a:ext cx="3758184" cy="87782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B5B58"/>
                </a:solidFill>
              </a:rPr>
              <a:t>Every real request and fulfillment updates demand history — the forecast improves as the system is used, instead of living on seed data.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82296" cy="6858000"/>
          </a:xfrm>
          <a:prstGeom prst="rect">
            <a:avLst/>
          </a:prstGeom>
          <a:solidFill>
            <a:srgbClr val="C31F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11055096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C31F2E"/>
                </a:solidFill>
              </a:rPr>
              <a:t>INNOVATION 3 · CLOSED LOOP &amp; PRIVACY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66928" y="749808"/>
            <a:ext cx="11055096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3000"/>
              </a:lnSpc>
              <a:buNone/>
            </a:pPr>
            <a:r>
              <a:rPr lang="en-US" sz="2600" b="1" dirty="0">
                <a:solidFill>
                  <a:srgbClr val="1B1B1D"/>
                </a:solidFill>
              </a:rPr>
              <a:t>A data loop that keeps the system truthful — </a:t>
            </a:r>
            <a:pPr indent="0" marL="0">
              <a:lnSpc>
                <a:spcPts val="3000"/>
              </a:lnSpc>
              <a:buNone/>
            </a:pPr>
            <a:r>
              <a:rPr lang="en-US" sz="2600" b="1" dirty="0">
                <a:solidFill>
                  <a:srgbClr val="C31F2E"/>
                </a:solidFill>
              </a:rPr>
              <a:t>and privacy by default.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566928" y="1783080"/>
            <a:ext cx="2578608" cy="1170432"/>
          </a:xfrm>
          <a:prstGeom prst="roundRect">
            <a:avLst>
              <a:gd name="adj" fmla="val 7813"/>
            </a:avLst>
          </a:prstGeom>
          <a:solidFill>
            <a:srgbClr val="FFFFFF"/>
          </a:solidFill>
          <a:ln w="15875">
            <a:solidFill>
              <a:srgbClr val="E7E5E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94944" y="1892808"/>
            <a:ext cx="2322576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B1B1D"/>
                </a:solidFill>
              </a:rPr>
              <a:t>Blood request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694944" y="2203704"/>
            <a:ext cx="2322576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ts val="1150"/>
              </a:lnSpc>
              <a:buNone/>
            </a:pPr>
            <a:r>
              <a:rPr lang="en-US" sz="900" dirty="0">
                <a:solidFill>
                  <a:srgbClr val="5B5B58"/>
                </a:solidFill>
              </a:rPr>
              <a:t>validated: blood group, units 1–20, PK phone format, real hospital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3127248" y="2112264"/>
            <a:ext cx="32918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C31F2E"/>
                </a:solidFill>
              </a:rPr>
              <a:t>→</a:t>
            </a:r>
            <a:endParaRPr lang="en-US" sz="2000" dirty="0"/>
          </a:p>
        </p:txBody>
      </p:sp>
      <p:sp>
        <p:nvSpPr>
          <p:cNvPr id="9" name="Shape 7"/>
          <p:cNvSpPr/>
          <p:nvPr/>
        </p:nvSpPr>
        <p:spPr>
          <a:xfrm>
            <a:off x="3438144" y="1783080"/>
            <a:ext cx="2578608" cy="1170432"/>
          </a:xfrm>
          <a:prstGeom prst="roundRect">
            <a:avLst>
              <a:gd name="adj" fmla="val 7813"/>
            </a:avLst>
          </a:prstGeom>
          <a:solidFill>
            <a:srgbClr val="FFFFFF"/>
          </a:solidFill>
          <a:ln w="15875">
            <a:solidFill>
              <a:srgbClr val="E7E5E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566160" y="1892808"/>
            <a:ext cx="2322576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B1B1D"/>
                </a:solidFill>
              </a:rPr>
              <a:t>AI match</a:t>
            </a:r>
            <a:endParaRPr lang="en-US" sz="1250" dirty="0"/>
          </a:p>
        </p:txBody>
      </p:sp>
      <p:sp>
        <p:nvSpPr>
          <p:cNvPr id="11" name="Text 9"/>
          <p:cNvSpPr/>
          <p:nvPr/>
        </p:nvSpPr>
        <p:spPr>
          <a:xfrm>
            <a:off x="3566160" y="2203704"/>
            <a:ext cx="2322576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ts val="1150"/>
              </a:lnSpc>
              <a:buNone/>
            </a:pPr>
            <a:r>
              <a:rPr lang="en-US" sz="900" dirty="0">
                <a:solidFill>
                  <a:srgbClr val="5B5B58"/>
                </a:solidFill>
              </a:rPr>
              <a:t>eligible donors ranked; ineligible ones hard-blocked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5998464" y="2112264"/>
            <a:ext cx="32918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C31F2E"/>
                </a:solidFill>
              </a:rPr>
              <a:t>→</a:t>
            </a:r>
            <a:endParaRPr lang="en-US" sz="2000" dirty="0"/>
          </a:p>
        </p:txBody>
      </p:sp>
      <p:sp>
        <p:nvSpPr>
          <p:cNvPr id="13" name="Shape 11"/>
          <p:cNvSpPr/>
          <p:nvPr/>
        </p:nvSpPr>
        <p:spPr>
          <a:xfrm>
            <a:off x="6309360" y="1783080"/>
            <a:ext cx="2578608" cy="1170432"/>
          </a:xfrm>
          <a:prstGeom prst="roundRect">
            <a:avLst>
              <a:gd name="adj" fmla="val 7813"/>
            </a:avLst>
          </a:prstGeom>
          <a:solidFill>
            <a:srgbClr val="FFFFFF"/>
          </a:solidFill>
          <a:ln w="15875">
            <a:solidFill>
              <a:srgbClr val="E7E5E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437376" y="1892808"/>
            <a:ext cx="2322576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B1B1D"/>
                </a:solidFill>
              </a:rPr>
              <a:t>Transfusion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6437376" y="2203704"/>
            <a:ext cx="2322576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ts val="1150"/>
              </a:lnSpc>
              <a:buNone/>
            </a:pPr>
            <a:r>
              <a:rPr lang="en-US" sz="900" dirty="0">
                <a:solidFill>
                  <a:srgbClr val="5B5B58"/>
                </a:solidFill>
              </a:rPr>
              <a:t>staff call matched donors — full numbers only here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8869680" y="2112264"/>
            <a:ext cx="32918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C31F2E"/>
                </a:solidFill>
              </a:rPr>
              <a:t>→</a:t>
            </a:r>
            <a:endParaRPr lang="en-US" sz="2000" dirty="0"/>
          </a:p>
        </p:txBody>
      </p:sp>
      <p:sp>
        <p:nvSpPr>
          <p:cNvPr id="17" name="Shape 15"/>
          <p:cNvSpPr/>
          <p:nvPr/>
        </p:nvSpPr>
        <p:spPr>
          <a:xfrm>
            <a:off x="9180576" y="1783080"/>
            <a:ext cx="2578608" cy="1170432"/>
          </a:xfrm>
          <a:prstGeom prst="roundRect">
            <a:avLst>
              <a:gd name="adj" fmla="val 7813"/>
            </a:avLst>
          </a:prstGeom>
          <a:solidFill>
            <a:srgbClr val="FFFFFF"/>
          </a:solidFill>
          <a:ln w="15875">
            <a:solidFill>
              <a:srgbClr val="E7E5E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9308592" y="1892808"/>
            <a:ext cx="2322576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B1B1D"/>
                </a:solidFill>
              </a:rPr>
              <a:t>Fulfillment confirmed</a:t>
            </a:r>
            <a:endParaRPr lang="en-US" sz="1250" dirty="0"/>
          </a:p>
        </p:txBody>
      </p:sp>
      <p:sp>
        <p:nvSpPr>
          <p:cNvPr id="19" name="Text 17"/>
          <p:cNvSpPr/>
          <p:nvPr/>
        </p:nvSpPr>
        <p:spPr>
          <a:xfrm>
            <a:off x="9308592" y="2203704"/>
            <a:ext cx="2322576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ts val="1150"/>
              </a:lnSpc>
              <a:buNone/>
            </a:pPr>
            <a:r>
              <a:rPr lang="en-US" sz="900" dirty="0">
                <a:solidFill>
                  <a:srgbClr val="5B5B58"/>
                </a:solidFill>
              </a:rPr>
              <a:t>donors enter resting window · surplus restocks the bank · demand history updated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566928" y="3246120"/>
            <a:ext cx="5367528" cy="2697480"/>
          </a:xfrm>
          <a:prstGeom prst="roundRect">
            <a:avLst>
              <a:gd name="adj" fmla="val 3390"/>
            </a:avLst>
          </a:prstGeom>
          <a:solidFill>
            <a:srgbClr val="FAFAF8"/>
          </a:solidFill>
          <a:ln w="15875">
            <a:solidFill>
              <a:srgbClr val="E7E5E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86384" y="3374136"/>
            <a:ext cx="4928616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1B1D"/>
                </a:solidFill>
              </a:rPr>
              <a:t>Privacy by default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786384" y="3721608"/>
            <a:ext cx="4928616" cy="2057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050" b="1" dirty="0">
                <a:solidFill>
                  <a:srgbClr val="0F766E"/>
                </a:solidFill>
              </a:rPr>
              <a:t>✓  </a:t>
            </a:r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5B5B58"/>
                </a:solidFill>
              </a:rPr>
              <a:t>Patient names masked everywhere public: </a:t>
            </a:r>
            <a:pPr indent="0" marL="0">
              <a:lnSpc>
                <a:spcPts val="1600"/>
              </a:lnSpc>
              <a:buNone/>
            </a:pPr>
            <a:r>
              <a:rPr lang="en-US" sz="1050" b="1" dirty="0">
                <a:solidFill>
                  <a:srgbClr val="1B1B1D"/>
                </a:solidFill>
              </a:rPr>
              <a:t>“M*** B***”</a:t>
            </a:r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5B5B58"/>
                </a:solidFill>
              </a:rPr>
              <a:t> — contact numbers never returned
</a:t>
            </a:r>
            <a:pPr indent="0" marL="0">
              <a:lnSpc>
                <a:spcPts val="1600"/>
              </a:lnSpc>
              <a:buNone/>
            </a:pPr>
            <a:r>
              <a:rPr lang="en-US" sz="1050" b="1" dirty="0">
                <a:solidFill>
                  <a:srgbClr val="0F766E"/>
                </a:solidFill>
              </a:rPr>
              <a:t>✓  </a:t>
            </a:r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5B5B58"/>
                </a:solidFill>
              </a:rPr>
              <a:t>Donor phones masked in the directory: </a:t>
            </a:r>
            <a:pPr indent="0" marL="0">
              <a:lnSpc>
                <a:spcPts val="1600"/>
              </a:lnSpc>
              <a:buNone/>
            </a:pPr>
            <a:r>
              <a:rPr lang="en-US" sz="1050" b="1" dirty="0">
                <a:solidFill>
                  <a:srgbClr val="1B1B1D"/>
                </a:solidFill>
              </a:rPr>
              <a:t>0335•••••••</a:t>
            </a:r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5B5B58"/>
                </a:solidFill>
              </a:rPr>
              <a:t> — real numbers revealed only through the AI match for an active request
</a:t>
            </a:r>
            <a:pPr indent="0" marL="0">
              <a:lnSpc>
                <a:spcPts val="1600"/>
              </a:lnSpc>
              <a:buNone/>
            </a:pPr>
            <a:r>
              <a:rPr lang="en-US" sz="1050" b="1" dirty="0">
                <a:solidFill>
                  <a:srgbClr val="0F766E"/>
                </a:solidFill>
              </a:rPr>
              <a:t>✓  </a:t>
            </a:r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5B5B58"/>
                </a:solidFill>
              </a:rPr>
              <a:t>All inputs validated at the API boundary — malformed or malicious data is rejected with clear errors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6254496" y="3246120"/>
            <a:ext cx="5367528" cy="2697480"/>
          </a:xfrm>
          <a:prstGeom prst="roundRect">
            <a:avLst>
              <a:gd name="adj" fmla="val 3390"/>
            </a:avLst>
          </a:prstGeom>
          <a:solidFill>
            <a:srgbClr val="FDECEE"/>
          </a:solidFill>
          <a:ln w="15875">
            <a:solidFill>
              <a:srgbClr val="F0C7C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473952" y="3374136"/>
            <a:ext cx="4928616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8F1620"/>
                </a:solidFill>
              </a:rPr>
              <a:t>Trust model (mobile prototype)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6473952" y="3721608"/>
            <a:ext cx="4928616" cy="2057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050" b="1" dirty="0">
                <a:solidFill>
                  <a:srgbClr val="8F1620"/>
                </a:solidFill>
              </a:rPr>
              <a:t>✓  </a:t>
            </a:r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5B5B58"/>
                </a:solidFill>
              </a:rPr>
              <a:t>Only </a:t>
            </a:r>
            <a:pPr indent="0" marL="0">
              <a:lnSpc>
                <a:spcPts val="1600"/>
              </a:lnSpc>
              <a:buNone/>
            </a:pPr>
            <a:r>
              <a:rPr lang="en-US" sz="1050" b="1" dirty="0">
                <a:solidFill>
                  <a:srgbClr val="1B1B1D"/>
                </a:solidFill>
              </a:rPr>
              <a:t>verified hospital / blood-bank staff</a:t>
            </a:r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5B5B58"/>
                </a:solidFill>
              </a:rPr>
              <a:t> can post requests — institutions submit registration numbers
</a:t>
            </a:r>
            <a:pPr indent="0" marL="0">
              <a:lnSpc>
                <a:spcPts val="1600"/>
              </a:lnSpc>
              <a:buNone/>
            </a:pPr>
            <a:r>
              <a:rPr lang="en-US" sz="1050" b="1" dirty="0">
                <a:solidFill>
                  <a:srgbClr val="8F1620"/>
                </a:solidFill>
              </a:rPr>
              <a:t>✓  </a:t>
            </a:r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5B5B58"/>
                </a:solidFill>
              </a:rPr>
              <a:t>Donors complete an </a:t>
            </a:r>
            <a:pPr indent="0" marL="0">
              <a:lnSpc>
                <a:spcPts val="1600"/>
              </a:lnSpc>
              <a:buNone/>
            </a:pPr>
            <a:r>
              <a:rPr lang="en-US" sz="1050" b="1" dirty="0">
                <a:solidFill>
                  <a:srgbClr val="1B1B1D"/>
                </a:solidFill>
              </a:rPr>
              <a:t>8-point health self-screening</a:t>
            </a:r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5B5B58"/>
                </a:solidFill>
              </a:rPr>
              <a:t> (re-screened in person at the bank, as required)
</a:t>
            </a:r>
            <a:pPr indent="0" marL="0">
              <a:lnSpc>
                <a:spcPts val="1600"/>
              </a:lnSpc>
              <a:buNone/>
            </a:pPr>
            <a:r>
              <a:rPr lang="en-US" sz="1050" b="1" dirty="0">
                <a:solidFill>
                  <a:srgbClr val="8F1620"/>
                </a:solidFill>
              </a:rPr>
              <a:t>✓  </a:t>
            </a:r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5B5B58"/>
                </a:solidFill>
              </a:rPr>
              <a:t>Patient identity replaced by a private internal reference on the shared feed</a:t>
            </a:r>
            <a:endParaRPr lang="en-US" sz="10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82296" cy="6858000"/>
          </a:xfrm>
          <a:prstGeom prst="rect">
            <a:avLst/>
          </a:prstGeom>
          <a:solidFill>
            <a:srgbClr val="C31F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11055096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C31F2E"/>
                </a:solidFill>
              </a:rPr>
              <a:t>THE TECHNOLOGY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66928" y="749808"/>
            <a:ext cx="11055096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3000"/>
              </a:lnSpc>
              <a:buNone/>
            </a:pPr>
            <a:r>
              <a:rPr lang="en-US" sz="2600" b="1" dirty="0">
                <a:solidFill>
                  <a:srgbClr val="1B1B1D"/>
                </a:solidFill>
              </a:rPr>
              <a:t>Simple stack, engineered honestly.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566928" y="1691640"/>
            <a:ext cx="5669280" cy="1426464"/>
          </a:xfrm>
          <a:prstGeom prst="roundRect">
            <a:avLst>
              <a:gd name="adj" fmla="val 6410"/>
            </a:avLst>
          </a:prstGeom>
          <a:solidFill>
            <a:srgbClr val="FAFAF8"/>
          </a:solidFill>
          <a:ln w="15875">
            <a:solidFill>
              <a:srgbClr val="E7E5E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86384" y="1819656"/>
            <a:ext cx="5230368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</a:rPr>
              <a:t>Architecture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786384" y="2148840"/>
            <a:ext cx="5230368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000000"/>
                </a:solidFill>
              </a:rPr>
              <a:t>React 19 + Vite + Tailwind + Recharts single-page app → Node.js / Express API → in-memory store with automatic disk persistence (survives restarts; Mongoose-ready schemas for a MongoDB upgrade).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566928" y="3300984"/>
            <a:ext cx="5669280" cy="1426464"/>
          </a:xfrm>
          <a:prstGeom prst="roundRect">
            <a:avLst>
              <a:gd name="adj" fmla="val 6410"/>
            </a:avLst>
          </a:prstGeom>
          <a:solidFill>
            <a:srgbClr val="FAFAF8"/>
          </a:solidFill>
          <a:ln w="15875">
            <a:solidFill>
              <a:srgbClr val="E7E5E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86384" y="3429000"/>
            <a:ext cx="5230368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</a:rPr>
              <a:t>Quality engineering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786384" y="3758184"/>
            <a:ext cx="5230368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000000"/>
                </a:solidFill>
              </a:rPr>
              <a:t>21-test automated API suite covering the full lifecycle (request → match → fulfill → backtest) — all passing. Input validation, masking and eligibility live on the server side, so the rules can’t be bypassed from the browser.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566928" y="4910328"/>
            <a:ext cx="5669280" cy="1426464"/>
          </a:xfrm>
          <a:prstGeom prst="roundRect">
            <a:avLst>
              <a:gd name="adj" fmla="val 6410"/>
            </a:avLst>
          </a:prstGeom>
          <a:solidFill>
            <a:srgbClr val="FAFAF8"/>
          </a:solidFill>
          <a:ln w="15875">
            <a:solidFill>
              <a:srgbClr val="E7E5E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86384" y="5038344"/>
            <a:ext cx="5230368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</a:rPr>
              <a:t>Realistic dataset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786384" y="5367528"/>
            <a:ext cx="5230368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000000"/>
                </a:solidFill>
              </a:rPr>
              <a:t>150 donors, 19 real hospitals &amp; blood banks, 90 days of demand history across Lahore, Karachi, Islamabad, Rawalpindi, Faisalabad and Multan.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6473952" y="1773936"/>
            <a:ext cx="5202936" cy="3292983"/>
          </a:xfrm>
          <a:prstGeom prst="roundRect">
            <a:avLst>
              <a:gd name="adj" fmla="val 2221"/>
            </a:avLst>
          </a:prstGeom>
          <a:solidFill>
            <a:srgbClr val="FAFAF8"/>
          </a:solidFill>
          <a:ln w="15875">
            <a:solidFill>
              <a:srgbClr val="E7E5E0"/>
            </a:solidFill>
            <a:prstDash val="solid"/>
          </a:ln>
        </p:spPr>
      </p:sp>
      <p:pic>
        <p:nvPicPr>
          <p:cNvPr id="15" name="Image 0" descr="C:\Users\SANA KHAN\Documents\Qoder\2026-09-03\chat-1\bloodbridge-ai\assets\donor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28816" y="1828800"/>
            <a:ext cx="5093208" cy="3183255"/>
          </a:xfrm>
          <a:prstGeom prst="rect">
            <a:avLst/>
          </a:prstGeom>
        </p:spPr>
      </p:pic>
      <p:sp>
        <p:nvSpPr>
          <p:cNvPr id="16" name="Text 13"/>
          <p:cNvSpPr/>
          <p:nvPr/>
        </p:nvSpPr>
        <p:spPr>
          <a:xfrm>
            <a:off x="6473952" y="5121783"/>
            <a:ext cx="5202936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8B8B87"/>
                </a:solidFill>
              </a:rPr>
              <a:t>Donor directory — masked phones, live eligibility status per donor</a:t>
            </a:r>
            <a:endParaRPr lang="en-US" sz="9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82296" cy="6858000"/>
          </a:xfrm>
          <a:prstGeom prst="rect">
            <a:avLst/>
          </a:prstGeom>
          <a:solidFill>
            <a:srgbClr val="C31F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11055096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C31F2E"/>
                </a:solidFill>
              </a:rPr>
              <a:t>FEASIBILITY · WHAT WE ACTUALLY BUILT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66928" y="749808"/>
            <a:ext cx="11055096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3000"/>
              </a:lnSpc>
              <a:buNone/>
            </a:pPr>
            <a:r>
              <a:rPr lang="en-US" sz="2600" b="1" dirty="0">
                <a:solidFill>
                  <a:srgbClr val="1B1B1D"/>
                </a:solidFill>
              </a:rPr>
              <a:t>Everything in this deck </a:t>
            </a:r>
            <a:pPr indent="0" marL="0">
              <a:lnSpc>
                <a:spcPts val="3000"/>
              </a:lnSpc>
              <a:buNone/>
            </a:pPr>
            <a:r>
              <a:rPr lang="en-US" sz="2600" b="1" dirty="0">
                <a:solidFill>
                  <a:srgbClr val="C31F2E"/>
                </a:solidFill>
              </a:rPr>
              <a:t>runs today</a:t>
            </a:r>
            <a:pPr indent="0" marL="0">
              <a:lnSpc>
                <a:spcPts val="3000"/>
              </a:lnSpc>
              <a:buNone/>
            </a:pPr>
            <a:r>
              <a:rPr lang="en-US" sz="2600" b="1" dirty="0">
                <a:solidFill>
                  <a:srgbClr val="1B1B1D"/>
                </a:solidFill>
              </a:rPr>
              <a:t>, from the repo.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566928" y="1737360"/>
            <a:ext cx="6309360" cy="4297680"/>
          </a:xfrm>
          <a:prstGeom prst="roundRect">
            <a:avLst>
              <a:gd name="adj" fmla="val 2128"/>
            </a:avLst>
          </a:prstGeom>
          <a:solidFill>
            <a:srgbClr val="FAFAF8"/>
          </a:solidFill>
          <a:ln w="15875">
            <a:solidFill>
              <a:srgbClr val="E7E5E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22960" y="1938528"/>
            <a:ext cx="5797296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300" b="1" dirty="0">
                <a:solidFill>
                  <a:srgbClr val="0F766E"/>
                </a:solidFill>
              </a:rPr>
              <a:t>✓  </a:t>
            </a:r>
            <a:pPr indent="0" marL="0">
              <a:lnSpc>
                <a:spcPts val="1500"/>
              </a:lnSpc>
              <a:buNone/>
            </a:pPr>
            <a:r>
              <a:rPr lang="en-US" sz="1150" b="1" dirty="0">
                <a:solidFill>
                  <a:srgbClr val="1B1B1D"/>
                </a:solidFill>
              </a:rPr>
              <a:t>Full working app</a:t>
            </a:r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5B5B58"/>
                </a:solidFill>
              </a:rPr>
              <a:t> — 6 pages, 10+ API endpoints, chatbot, live matching &amp; forecasting; two commands to run locally (npm run install:all, npm run dev)</a:t>
            </a:r>
            <a:endParaRPr lang="en-US" sz="1150" dirty="0"/>
          </a:p>
        </p:txBody>
      </p:sp>
      <p:sp>
        <p:nvSpPr>
          <p:cNvPr id="7" name="Text 5"/>
          <p:cNvSpPr/>
          <p:nvPr/>
        </p:nvSpPr>
        <p:spPr>
          <a:xfrm>
            <a:off x="822960" y="2743200"/>
            <a:ext cx="5797296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300" b="1" dirty="0">
                <a:solidFill>
                  <a:srgbClr val="0F766E"/>
                </a:solidFill>
              </a:rPr>
              <a:t>✓  </a:t>
            </a:r>
            <a:pPr indent="0" marL="0">
              <a:lnSpc>
                <a:spcPts val="1500"/>
              </a:lnSpc>
              <a:buNone/>
            </a:pPr>
            <a:r>
              <a:rPr lang="en-US" sz="1150" b="1" dirty="0">
                <a:solidFill>
                  <a:srgbClr val="1B1B1D"/>
                </a:solidFill>
              </a:rPr>
              <a:t>Complete request lifecycle</a:t>
            </a:r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5B5B58"/>
                </a:solidFill>
              </a:rPr>
              <a:t> — create → AI match → call donors → confirm fulfillment → donors rest, bank restocks, model learns</a:t>
            </a:r>
            <a:endParaRPr lang="en-US" sz="1150" dirty="0"/>
          </a:p>
        </p:txBody>
      </p:sp>
      <p:sp>
        <p:nvSpPr>
          <p:cNvPr id="8" name="Text 6"/>
          <p:cNvSpPr/>
          <p:nvPr/>
        </p:nvSpPr>
        <p:spPr>
          <a:xfrm>
            <a:off x="822960" y="3547872"/>
            <a:ext cx="5797296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300" b="1" dirty="0">
                <a:solidFill>
                  <a:srgbClr val="0F766E"/>
                </a:solidFill>
              </a:rPr>
              <a:t>✓  </a:t>
            </a:r>
            <a:pPr indent="0" marL="0">
              <a:lnSpc>
                <a:spcPts val="1500"/>
              </a:lnSpc>
              <a:buNone/>
            </a:pPr>
            <a:r>
              <a:rPr lang="en-US" sz="1150" b="1" dirty="0">
                <a:solidFill>
                  <a:srgbClr val="1B1B1D"/>
                </a:solidFill>
              </a:rPr>
              <a:t>Tested end-to-end</a:t>
            </a:r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5B5B58"/>
                </a:solidFill>
              </a:rPr>
              <a:t> — 21 automated API tests, all passing, included in the repo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822960" y="4352544"/>
            <a:ext cx="5797296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300" b="1" dirty="0">
                <a:solidFill>
                  <a:srgbClr val="0F766E"/>
                </a:solidFill>
              </a:rPr>
              <a:t>✓  </a:t>
            </a:r>
            <a:pPr indent="0" marL="0">
              <a:lnSpc>
                <a:spcPts val="1500"/>
              </a:lnSpc>
              <a:buNone/>
            </a:pPr>
            <a:r>
              <a:rPr lang="en-US" sz="1150" b="1" dirty="0">
                <a:solidFill>
                  <a:srgbClr val="1B1B1D"/>
                </a:solidFill>
              </a:rPr>
              <a:t>Second working prototype</a:t>
            </a:r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5B5B58"/>
                </a:solidFill>
              </a:rPr>
              <a:t> — the mobile trust model (role onboarding, institution verification, donor screening) runs standalone in any browser</a:t>
            </a:r>
            <a:endParaRPr lang="en-US" sz="1150" dirty="0"/>
          </a:p>
        </p:txBody>
      </p:sp>
      <p:sp>
        <p:nvSpPr>
          <p:cNvPr id="10" name="Text 8"/>
          <p:cNvSpPr/>
          <p:nvPr/>
        </p:nvSpPr>
        <p:spPr>
          <a:xfrm>
            <a:off x="822960" y="5157216"/>
            <a:ext cx="5797296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300" b="1" dirty="0">
                <a:solidFill>
                  <a:srgbClr val="0F766E"/>
                </a:solidFill>
              </a:rPr>
              <a:t>✓  </a:t>
            </a:r>
            <a:pPr indent="0" marL="0">
              <a:lnSpc>
                <a:spcPts val="1500"/>
              </a:lnSpc>
              <a:buNone/>
            </a:pPr>
            <a:r>
              <a:rPr lang="en-US" sz="1150" b="1" dirty="0">
                <a:solidFill>
                  <a:srgbClr val="1B1B1D"/>
                </a:solidFill>
              </a:rPr>
              <a:t>Honest scope</a:t>
            </a:r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5B5B58"/>
                </a:solidFill>
              </a:rPr>
              <a:t> — prototype persistence is JSON-on-disk; production needs auth, SMS alerts and hospital integration. We say so in the README — and the roadmap is concrete.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7168896" y="1737360"/>
            <a:ext cx="4453128" cy="4297680"/>
          </a:xfrm>
          <a:prstGeom prst="roundRect">
            <a:avLst>
              <a:gd name="adj" fmla="val 2128"/>
            </a:avLst>
          </a:prstGeom>
          <a:solidFill>
            <a:srgbClr val="E6F5F3"/>
          </a:solidFill>
          <a:ln w="15875">
            <a:solidFill>
              <a:srgbClr val="BFE3D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388352" y="1901952"/>
            <a:ext cx="401421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F766E"/>
                </a:solidFill>
              </a:rPr>
              <a:t>Judges can verify in 2 minutes</a:t>
            </a:r>
            <a:endParaRPr lang="en-US" sz="1450" dirty="0"/>
          </a:p>
        </p:txBody>
      </p:sp>
      <p:sp>
        <p:nvSpPr>
          <p:cNvPr id="13" name="Text 11"/>
          <p:cNvSpPr/>
          <p:nvPr/>
        </p:nvSpPr>
        <p:spPr>
          <a:xfrm>
            <a:off x="7424928" y="2359152"/>
            <a:ext cx="3941064" cy="6217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150" b="1" dirty="0">
                <a:solidFill>
                  <a:srgbClr val="0F766E"/>
                </a:solidFill>
              </a:rPr>
              <a:t>1.  </a:t>
            </a:r>
            <a:pPr indent="0" marL="0">
              <a:lnSpc>
                <a:spcPts val="1400"/>
              </a:lnSpc>
              <a:buNone/>
            </a:pPr>
            <a:r>
              <a:rPr lang="en-US" sz="1150" dirty="0">
                <a:solidFill>
                  <a:srgbClr val="0B4A44"/>
                </a:solidFill>
              </a:rPr>
              <a:t>Clone the repo, run two commands</a:t>
            </a:r>
            <a:endParaRPr lang="en-US" sz="1150" dirty="0"/>
          </a:p>
        </p:txBody>
      </p:sp>
      <p:sp>
        <p:nvSpPr>
          <p:cNvPr id="14" name="Text 12"/>
          <p:cNvSpPr/>
          <p:nvPr/>
        </p:nvSpPr>
        <p:spPr>
          <a:xfrm>
            <a:off x="7424928" y="3017520"/>
            <a:ext cx="3941064" cy="6217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150" b="1" dirty="0">
                <a:solidFill>
                  <a:srgbClr val="0F766E"/>
                </a:solidFill>
              </a:rPr>
              <a:t>2.  </a:t>
            </a:r>
            <a:pPr indent="0" marL="0">
              <a:lnSpc>
                <a:spcPts val="1400"/>
              </a:lnSpc>
              <a:buNone/>
            </a:pPr>
            <a:r>
              <a:rPr lang="en-US" sz="1150" dirty="0">
                <a:solidFill>
                  <a:srgbClr val="0B4A44"/>
                </a:solidFill>
              </a:rPr>
              <a:t>Submit a request in the UI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7424928" y="3675888"/>
            <a:ext cx="3941064" cy="6217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150" b="1" dirty="0">
                <a:solidFill>
                  <a:srgbClr val="0F766E"/>
                </a:solidFill>
              </a:rPr>
              <a:t>3.  </a:t>
            </a:r>
            <a:pPr indent="0" marL="0">
              <a:lnSpc>
                <a:spcPts val="1400"/>
              </a:lnSpc>
              <a:buNone/>
            </a:pPr>
            <a:r>
              <a:rPr lang="en-US" sz="1150" dirty="0">
                <a:solidFill>
                  <a:srgbClr val="0B4A44"/>
                </a:solidFill>
              </a:rPr>
              <a:t>Watch the AI match — with ineligible donors blocked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7424928" y="4334256"/>
            <a:ext cx="3941064" cy="6217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150" b="1" dirty="0">
                <a:solidFill>
                  <a:srgbClr val="0F766E"/>
                </a:solidFill>
              </a:rPr>
              <a:t>4.  </a:t>
            </a:r>
            <a:pPr indent="0" marL="0">
              <a:lnSpc>
                <a:spcPts val="1400"/>
              </a:lnSpc>
              <a:buNone/>
            </a:pPr>
            <a:r>
              <a:rPr lang="en-US" sz="1150" dirty="0">
                <a:solidFill>
                  <a:srgbClr val="0B4A44"/>
                </a:solidFill>
              </a:rPr>
              <a:t>Check Analytics — accuracy is backtested, live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7424928" y="4992624"/>
            <a:ext cx="3941064" cy="6217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150" b="1" dirty="0">
                <a:solidFill>
                  <a:srgbClr val="0F766E"/>
                </a:solidFill>
              </a:rPr>
              <a:t>5.  </a:t>
            </a:r>
            <a:pPr indent="0" marL="0">
              <a:lnSpc>
                <a:spcPts val="1400"/>
              </a:lnSpc>
              <a:buNone/>
            </a:pPr>
            <a:r>
              <a:rPr lang="en-US" sz="1150" dirty="0">
                <a:solidFill>
                  <a:srgbClr val="0B4A44"/>
                </a:solidFill>
              </a:rPr>
              <a:t>Run node server/smoke-test.js — 21 green checks</a:t>
            </a:r>
            <a:endParaRPr lang="en-US" sz="11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82296" cy="6858000"/>
          </a:xfrm>
          <a:prstGeom prst="rect">
            <a:avLst/>
          </a:prstGeom>
          <a:solidFill>
            <a:srgbClr val="C31F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11055096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C31F2E"/>
                </a:solidFill>
              </a:rPr>
              <a:t>ROADMAP &amp; CLOSE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66928" y="1371600"/>
            <a:ext cx="11055096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3300"/>
              </a:lnSpc>
              <a:buNone/>
            </a:pPr>
            <a:r>
              <a:rPr lang="en-US" sz="2700" b="1" dirty="0">
                <a:solidFill>
                  <a:srgbClr val="1B1B1D"/>
                </a:solidFill>
              </a:rPr>
              <a:t>Next: SMS/WhatsApp alerts, map view,</a:t>
            </a:r>
            <a:endParaRPr lang="en-US" sz="2700" dirty="0"/>
          </a:p>
          <a:p>
            <a:pPr indent="0" marL="0">
              <a:lnSpc>
                <a:spcPts val="3300"/>
              </a:lnSpc>
              <a:buNone/>
            </a:pPr>
            <a:r>
              <a:rPr lang="en-US" sz="2700" b="1" dirty="0">
                <a:solidFill>
                  <a:srgbClr val="1B1B1D"/>
                </a:solidFill>
              </a:rPr>
              <a:t>blood-unit expiry tracking, MongoDB + auth.</a:t>
            </a:r>
            <a:endParaRPr lang="en-US" sz="2700" dirty="0"/>
          </a:p>
        </p:txBody>
      </p:sp>
      <p:sp>
        <p:nvSpPr>
          <p:cNvPr id="5" name="Text 3"/>
          <p:cNvSpPr/>
          <p:nvPr/>
        </p:nvSpPr>
        <p:spPr>
          <a:xfrm>
            <a:off x="566928" y="2697480"/>
            <a:ext cx="11055096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500" dirty="0">
                <a:solidFill>
                  <a:srgbClr val="5B5B58"/>
                </a:solidFill>
              </a:rPr>
              <a:t>The coordinates, eligibility data and forecast loop are already in place — the roadmap builds on what runs today, not on promises.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566928" y="4023360"/>
            <a:ext cx="11055096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B1B1D"/>
                </a:solidFill>
              </a:rPr>
              <a:t>Every drop, matched in seconds. </a:t>
            </a:r>
            <a:pPr indent="0" marL="0">
              <a:buNone/>
            </a:pPr>
            <a:r>
              <a:rPr lang="en-US" sz="4000" b="1" dirty="0">
                <a:solidFill>
                  <a:srgbClr val="C31F2E"/>
                </a:solidFill>
              </a:rPr>
              <a:t>Safely.</a:t>
            </a:r>
            <a:endParaRPr lang="en-US" sz="4000" dirty="0"/>
          </a:p>
        </p:txBody>
      </p:sp>
      <p:sp>
        <p:nvSpPr>
          <p:cNvPr id="7" name="Text 5"/>
          <p:cNvSpPr/>
          <p:nvPr/>
        </p:nvSpPr>
        <p:spPr>
          <a:xfrm>
            <a:off x="566928" y="6172200"/>
            <a:ext cx="11055096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B87"/>
                </a:solidFill>
              </a:rPr>
              <a:t>BloodBridge AI — Alibaba Cloud AI Hackathon Pakistan 2026 · Healthcare · Thank you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BloodBridge AI — Alibaba Cloud AI Hackathon Pakistan 2026</dc:title>
  <dc:subject>PptxGenJS Presentation</dc:subject>
  <dc:creator>Team BloodBridge</dc:creator>
  <cp:lastModifiedBy>Team BloodBridge</cp:lastModifiedBy>
  <cp:revision>1</cp:revision>
  <dcterms:created xsi:type="dcterms:W3CDTF">2026-09-04T07:19:41Z</dcterms:created>
  <dcterms:modified xsi:type="dcterms:W3CDTF">2026-09-04T07:19:41Z</dcterms:modified>
</cp:coreProperties>
</file>